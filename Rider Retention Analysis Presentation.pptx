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4574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28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Riders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Jul 2024</c:v>
                </c:pt>
                <c:pt idx="1">
                  <c:v>Aug 2024</c:v>
                </c:pt>
                <c:pt idx="2">
                  <c:v>Sep 2024</c:v>
                </c:pt>
                <c:pt idx="3">
                  <c:v>Oct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2099</c:v>
                </c:pt>
                <c:pt idx="1">
                  <c:v>4702</c:v>
                </c:pt>
                <c:pt idx="2">
                  <c:v>6171</c:v>
                </c:pt>
                <c:pt idx="3">
                  <c:v>6987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A0-4583-9E46-F498CE8741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Sheet1!$A$3:$A$8</c:f>
              <c:strCache>
                <c:ptCount val="5"/>
                <c:pt idx="0">
                  <c:v>2–4 min</c:v>
                </c:pt>
                <c:pt idx="1">
                  <c:v>4–6 min</c:v>
                </c:pt>
                <c:pt idx="2">
                  <c:v>6–8 min</c:v>
                </c:pt>
                <c:pt idx="3">
                  <c:v>8–10 min</c:v>
                </c:pt>
                <c:pt idx="4">
                  <c:v>10+ min</c:v>
                </c:pt>
              </c:strCache>
            </c:strRef>
          </c:cat>
          <c:val>
            <c:numRef>
              <c:f>Sheet1!$B$3:$B$8</c:f>
              <c:numCache>
                <c:formatCode>General</c:formatCode>
                <c:ptCount val="6"/>
                <c:pt idx="0">
                  <c:v>5.0199999999999996</c:v>
                </c:pt>
                <c:pt idx="1">
                  <c:v>5.09</c:v>
                </c:pt>
                <c:pt idx="2">
                  <c:v>5.01</c:v>
                </c:pt>
                <c:pt idx="3">
                  <c:v>12.07</c:v>
                </c:pt>
                <c:pt idx="4">
                  <c:v>16.72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6-4AB6-8E22-EBAB8DE169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Wait Time Group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Cancel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278556173125419"/>
          <c:y val="7.3526556131703044E-2"/>
          <c:w val="0.86721443826874578"/>
          <c:h val="0.7867840833920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4.0670000000000002</c:v>
                </c:pt>
                <c:pt idx="1">
                  <c:v>4.0780000000000003</c:v>
                </c:pt>
                <c:pt idx="2">
                  <c:v>3.5910000000000002</c:v>
                </c:pt>
                <c:pt idx="3">
                  <c:v>3.4249999999999998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E6-48DF-A197-42B1A206AF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Regular</c:v>
                </c:pt>
              </c:strCache>
            </c:strRef>
          </c:tx>
          <c:spPr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4.101</c:v>
                </c:pt>
                <c:pt idx="1">
                  <c:v>4.0999999999999996</c:v>
                </c:pt>
                <c:pt idx="2">
                  <c:v>3.5670000000000002</c:v>
                </c:pt>
                <c:pt idx="3">
                  <c:v>3.42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E6-48DF-A197-42B1A206AF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4.0990000000000002</c:v>
                </c:pt>
                <c:pt idx="1">
                  <c:v>4.08</c:v>
                </c:pt>
                <c:pt idx="2">
                  <c:v>3.5670000000000002</c:v>
                </c:pt>
                <c:pt idx="3">
                  <c:v>3.4350000000000001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E6-48DF-A197-42B1A206A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Avg Rating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66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covers all three tasks of the GariBook mid-level data analyst assessment. Walk through each section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SQL queries were written. Key techniques: EXTRACT for month parsing, CASE WHEN for conditional aggregation, correlated subqueries for retention rate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data-backed insights. The key story: wait times doubled and caused cancellations to triple. This is the main business problem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GariBook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Retention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Assessment  ·  July – October 2024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371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46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2E75B6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246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2E75B6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Data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2E75B6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Md Mehedi Hasan Mazumder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042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3350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riders · ~140,000 trips · Jul–Oct 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6537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E75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– SQL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queries: active riders, cancellation, wait time, retention, top cities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3347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E75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– Python Data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871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· exploratory analysis · 3 visualisations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015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E75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01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346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– Insights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findings · segment focus · recommendations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16966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E75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9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metrics presented visually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CSV files provided for the assessment period July – October 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07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rider_data_mid.csv  (10,000 rows)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rider_id: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identifier (R000001–R010000)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Dhaka, Chattogram, or Sylhet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join_date: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rider joined (Jul–Oct 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80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Regular, or Premium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3931920" cy="475488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54480"/>
            <a:ext cx="3931920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07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trip_data_mid.csv  (~140,000 rows)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trip_id: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trip identifier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trip_date: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trip (Jul–Oct 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distance in km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80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fare_bdt: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fare in Bangladeshi Taka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wait_time: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before pickup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or Cancelled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stars or NULL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6908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Data issues found during cleaning: 277 duplicate trip records · missing rating values (cancelled trips) · &lt;1% missing wait_time_min rows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841248"/>
          </a:xfrm>
          <a:prstGeom prst="roundRect">
            <a:avLst>
              <a:gd name="adj" fmla="val 9783"/>
            </a:avLst>
          </a:prstGeom>
          <a:solidFill>
            <a:srgbClr val="2E75B6">
              <a:alpha val="7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91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Riders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8653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COUNT(DISTINCT rider_id) grouped by 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931920" cy="841248"/>
          </a:xfrm>
          <a:prstGeom prst="roundRect">
            <a:avLst>
              <a:gd name="adj" fmla="val 9783"/>
            </a:avLst>
          </a:prstGeom>
          <a:solidFill>
            <a:srgbClr val="2E75B6">
              <a:alpha val="7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5968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 by Segment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871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WHEN + subquery for rate per segment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931920" cy="841248"/>
          </a:xfrm>
          <a:prstGeom prst="roundRect">
            <a:avLst>
              <a:gd name="adj" fmla="val 9783"/>
            </a:avLst>
          </a:prstGeom>
          <a:solidFill>
            <a:srgbClr val="2E75B6">
              <a:alpha val="7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60273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Wait Time by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8770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AVG(wait_time_min) grouped by EXTRACT(month)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3931920" cy="841248"/>
          </a:xfrm>
          <a:prstGeom prst="roundRect">
            <a:avLst>
              <a:gd name="adj" fmla="val 9783"/>
            </a:avLst>
          </a:prstGeom>
          <a:solidFill>
            <a:srgbClr val="2E75B6">
              <a:alpha val="7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5910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91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 (Jul→Oct)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18653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Subquery: riders active in both Jul &amp; Oct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3931920" cy="841248"/>
          </a:xfrm>
          <a:prstGeom prst="roundRect">
            <a:avLst>
              <a:gd name="adj" fmla="val 9783"/>
            </a:avLst>
          </a:prstGeom>
          <a:solidFill>
            <a:srgbClr val="2E75B6">
              <a:alpha val="7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25968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Cities by Trips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871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status='Completed' ORDER BY count DESC LIMIT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– Monthly Active Riders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50521"/>
              </p:ext>
            </p:extLst>
          </p:nvPr>
        </p:nvGraphicFramePr>
        <p:xfrm>
          <a:off x="457200" y="1261872"/>
          <a:ext cx="3840480" cy="1920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Riders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October 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– Cancellation Rate by Segment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66458"/>
              </p:ext>
            </p:extLst>
          </p:nvPr>
        </p:nvGraphicFramePr>
        <p:xfrm>
          <a:off x="4846320" y="1261872"/>
          <a:ext cx="3840480" cy="1508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– Avg Wait Time by Month</a:t>
            </a:r>
            <a:endParaRPr lang="en-US" sz="13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39312"/>
          <a:ext cx="3840480" cy="1295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Wait (min)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October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846320" y="324612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484632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Retention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→ Oct</a:t>
            </a:r>
            <a:endParaRPr lang="en-US" sz="1000" dirty="0"/>
          </a:p>
        </p:txBody>
      </p:sp>
      <p:sp>
        <p:nvSpPr>
          <p:cNvPr id="4" name="Text 6"/>
          <p:cNvSpPr/>
          <p:nvPr/>
        </p:nvSpPr>
        <p:spPr>
          <a:xfrm>
            <a:off x="48463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75.32%</a:t>
            </a:r>
            <a:endParaRPr lang="en-US" sz="3200" dirty="0"/>
          </a:p>
        </p:txBody>
      </p:sp>
      <p:sp>
        <p:nvSpPr>
          <p:cNvPr id="12" name="Text 7"/>
          <p:cNvSpPr/>
          <p:nvPr/>
        </p:nvSpPr>
        <p:spPr>
          <a:xfrm>
            <a:off x="484632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Jul riders still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Oct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858000" y="324612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85800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Top City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858000" y="38221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Dhaka</a:t>
            </a:r>
            <a:endParaRPr lang="en-US" sz="2800" dirty="0"/>
          </a:p>
        </p:txBody>
      </p:sp>
      <p:sp>
        <p:nvSpPr>
          <p:cNvPr id="8" name="Text 11"/>
          <p:cNvSpPr/>
          <p:nvPr/>
        </p:nvSpPr>
        <p:spPr>
          <a:xfrm>
            <a:off x="685800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by completed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 ·  Data Cleaning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found and resolved before exploratory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243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Rating Values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179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Found: Ratings were NULL for all cancelled trips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7190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Filled with column median (4.0) — expected business </a:t>
            </a:r>
            <a:r>
              <a:rPr lang="en-US" sz="1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0" y="1408176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408176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21408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2585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E75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58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176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Wait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4505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Found: &lt;1% of rows had no wait_time_min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Rows dropped — too few to affect results, essential for cancellation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2340864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2E75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34086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91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91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Records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3832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Found: 277 fully duplicated rows in trip dataset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" y="35844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Removed with drop_duplicates() — could have inflated trip counts by ~0.2%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3273552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27355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86784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12394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Dataset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3159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Found: No missing values or duplicates found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" y="45171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No action required — data was clean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4206240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420624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 ·  Exploratory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statistics for key trip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Distance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6.02 km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5.35 km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78608" y="1143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78608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8608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150.96 BDT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78608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136.25 BDT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1143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Wait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0016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8.21 min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0016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8.0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21424" y="1143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21424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21424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3.71 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21424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4.0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Time vs. Cancellations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4103"/>
              </p:ext>
            </p:extLst>
          </p:nvPr>
        </p:nvGraphicFramePr>
        <p:xfrm>
          <a:off x="457200" y="3090672"/>
          <a:ext cx="4572000" cy="141732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 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Wait (min)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10.21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11.1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2120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Comparison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558143"/>
              </p:ext>
            </p:extLst>
          </p:nvPr>
        </p:nvGraphicFramePr>
        <p:xfrm>
          <a:off x="5212080" y="3090672"/>
          <a:ext cx="3474720" cy="141732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correlation observed: longer wait → higher cancellation rate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1  ·  Monthly Active Riders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unique riders who completed at least one trip per month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12563030"/>
              </p:ext>
            </p:extLst>
          </p:nvPr>
        </p:nvGraphicFramePr>
        <p:xfrm>
          <a:off x="457200" y="1051560"/>
          <a:ext cx="6217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05156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9516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6,987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951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riders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October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86600" y="278892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3.3×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95160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→ October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086600" y="4005072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rider 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steadily 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for platform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2  ·  Cancellation Rate by Wait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Longer wait times are strongly associated with higher cancellation rates.</a:t>
            </a: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84361412"/>
              </p:ext>
            </p:extLst>
          </p:nvPr>
        </p:nvGraphicFramePr>
        <p:xfrm>
          <a:off x="457200" y="1051560"/>
          <a:ext cx="6217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05156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9516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9951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rate when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&gt; 10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86600" y="278892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95160" y="3182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minutes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9516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 spike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this point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86600" y="416052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9516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keep avg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&lt; 8 min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3  ·  Average Rating by Segment Over Time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trends reveal how service quality perception changed across rider segments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003226642"/>
              </p:ext>
            </p:extLst>
          </p:nvPr>
        </p:nvGraphicFramePr>
        <p:xfrm>
          <a:off x="457200" y="1051560"/>
          <a:ext cx="6217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05156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9516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99516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declining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Sep→Oct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86600" y="269748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riders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rated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9516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3.73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period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086600" y="379476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39136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aligns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wait 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in Sep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Insights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2E75B6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264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 tripled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at 4–5% in Jul–Aug, then jumped sharply in Sep–Oct. The 3× increase coincides exactly with the rise in average wait times — supply-side constraint, not demand drop.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49440" y="1536192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53619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4.56% → 14.10%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2E75B6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times doubled — and cause cancellations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944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 nearly doubled over 4 months. Cancellation rates spike sharply beyond 8 minutes. Positive correlation confirmed — longer waits directly cause cancellations.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27432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min → 11.0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2E75B6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segment has the highest cancellation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15137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riders cancel more than Budget (9.85%) or Premium (10.15%). As the largest segment (61,257 trips), even a small reduction in cancellations has a major impact on platform performance.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3950208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95020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10.35%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Focus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Needing Attention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Rider Segment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3657600" cy="411480"/>
          </a:xfrm>
          <a:prstGeom prst="rect">
            <a:avLst/>
          </a:prstGeom>
          <a:solidFill>
            <a:srgbClr val="F4F8FB"/>
          </a:solidFill>
          <a:ln w="6350">
            <a:solidFill>
              <a:srgbClr val="D8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cancel 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44368" y="23317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10.35%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3657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trips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44368" y="2834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61,689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337560"/>
            <a:ext cx="3657600" cy="411480"/>
          </a:xfrm>
          <a:prstGeom prst="rect">
            <a:avLst/>
          </a:prstGeom>
          <a:solidFill>
            <a:srgbClr val="F4F8FB"/>
          </a:solidFill>
          <a:ln w="6350">
            <a:solidFill>
              <a:srgbClr val="D8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44368" y="3337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 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3657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wait 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44368" y="3840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8.28 min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largest segment, even a small cancellation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has significant revenue impact.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987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463040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12700">
            <a:solidFill>
              <a:srgbClr val="D8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157276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5179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wait times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94960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Surge-pay incentives for drivers in high-cancellation slots. Target &lt; 6 min average wait — cancellations spike sharply beyond 8 min.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578608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12700">
            <a:solidFill>
              <a:srgbClr val="D8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268833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688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2633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Wait-time guarantee for Regular riders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94960" y="29443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Auto-apply a fare credit when wait exceeds 7 min. Turns a service failure into a loyalty moment for the highest-volume segment.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694176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12700">
            <a:solidFill>
              <a:srgbClr val="D8E8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380390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803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9496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retention monitoring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4960" y="40599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cancel rate and avg wait weekly. Trigger an ops review if cancel rate exceeds 10% or avg wait exceeds 8 min.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2860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GariBook Data Analyst Assessment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3474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8346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Issues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3474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3474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6751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Mehedi Hasan Mazumder  ·  mehedimajumder11@gmail.com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1179</Words>
  <Application>Microsoft Office PowerPoint</Application>
  <PresentationFormat>On-screen Show (16:9)</PresentationFormat>
  <Paragraphs>272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GariBook Rider Retention Analysis</dc:title>
  <dc:subject>PptxGenJS Presentation</dc:subject>
  <dc:creator>Data Analyst Assessment – Mid Level</dc:creator>
  <cp:lastModifiedBy>Mehedi Mazumder</cp:lastModifiedBy>
  <cp:revision>15</cp:revision>
  <dcterms:created xsi:type="dcterms:W3CDTF">2026-07-07T07:18:25Z</dcterms:created>
  <dcterms:modified xsi:type="dcterms:W3CDTF">2026-07-08T05:54:49Z</dcterms:modified>
</cp:coreProperties>
</file>